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7" r:id="rId5"/>
    <p:sldId id="259" r:id="rId6"/>
    <p:sldId id="270" r:id="rId7"/>
    <p:sldId id="268" r:id="rId8"/>
    <p:sldId id="271" r:id="rId9"/>
    <p:sldId id="272" r:id="rId10"/>
    <p:sldId id="260" r:id="rId11"/>
    <p:sldId id="273" r:id="rId12"/>
    <p:sldId id="261" r:id="rId13"/>
    <p:sldId id="262" r:id="rId14"/>
    <p:sldId id="263" r:id="rId15"/>
    <p:sldId id="264" r:id="rId16"/>
    <p:sldId id="276" r:id="rId17"/>
    <p:sldId id="265"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9/23/2025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99B9-89FA-0811-AEC7-15C3E0D77D7E}"/>
              </a:ext>
            </a:extLst>
          </p:cNvPr>
          <p:cNvSpPr>
            <a:spLocks noGrp="1"/>
          </p:cNvSpPr>
          <p:nvPr>
            <p:ph type="ctrTitle"/>
          </p:nvPr>
        </p:nvSpPr>
        <p:spPr>
          <a:xfrm>
            <a:off x="2094271" y="1380068"/>
            <a:ext cx="9408752" cy="2867467"/>
          </a:xfrm>
        </p:spPr>
        <p:txBody>
          <a:bodyPr>
            <a:normAutofit/>
          </a:bodyPr>
          <a:lstStyle/>
          <a:p>
            <a:r>
              <a:rPr lang="en-US" b="1" dirty="0"/>
              <a:t> REACT JS</a:t>
            </a:r>
          </a:p>
        </p:txBody>
      </p:sp>
    </p:spTree>
    <p:extLst>
      <p:ext uri="{BB962C8B-B14F-4D97-AF65-F5344CB8AC3E}">
        <p14:creationId xmlns:p14="http://schemas.microsoft.com/office/powerpoint/2010/main" val="197193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D504-2141-2DCC-F5AD-CC0C266F0045}"/>
              </a:ext>
            </a:extLst>
          </p:cNvPr>
          <p:cNvSpPr>
            <a:spLocks noGrp="1"/>
          </p:cNvSpPr>
          <p:nvPr>
            <p:ph type="title"/>
          </p:nvPr>
        </p:nvSpPr>
        <p:spPr/>
        <p:txBody>
          <a:bodyPr/>
          <a:lstStyle/>
          <a:p>
            <a:r>
              <a:rPr lang="en-US" dirty="0"/>
              <a:t>INTRODUCTION TO REACT</a:t>
            </a:r>
          </a:p>
        </p:txBody>
      </p:sp>
      <p:sp>
        <p:nvSpPr>
          <p:cNvPr id="3" name="Content Placeholder 2">
            <a:extLst>
              <a:ext uri="{FF2B5EF4-FFF2-40B4-BE49-F238E27FC236}">
                <a16:creationId xmlns:a16="http://schemas.microsoft.com/office/drawing/2014/main" id="{7E4E62E0-0325-F6CF-F445-63D174968E84}"/>
              </a:ext>
            </a:extLst>
          </p:cNvPr>
          <p:cNvSpPr>
            <a:spLocks noGrp="1"/>
          </p:cNvSpPr>
          <p:nvPr>
            <p:ph idx="1"/>
          </p:nvPr>
        </p:nvSpPr>
        <p:spPr/>
        <p:txBody>
          <a:bodyPr>
            <a:normAutofit lnSpcReduction="10000"/>
          </a:bodyPr>
          <a:lstStyle/>
          <a:p>
            <a:pPr algn="l"/>
            <a:r>
              <a:rPr lang="en-US" b="0" i="0" dirty="0">
                <a:solidFill>
                  <a:srgbClr val="000000"/>
                </a:solidFill>
                <a:effectLst/>
                <a:latin typeface="Verdana" panose="020B0604030504040204" pitchFamily="34" charset="0"/>
              </a:rPr>
              <a:t>React is a JavaScript library for building user interfaces.</a:t>
            </a:r>
          </a:p>
          <a:p>
            <a:pPr algn="l"/>
            <a:r>
              <a:rPr lang="en-US" b="0" i="0" dirty="0">
                <a:solidFill>
                  <a:srgbClr val="000000"/>
                </a:solidFill>
                <a:effectLst/>
                <a:latin typeface="Verdana" panose="020B0604030504040204" pitchFamily="34" charset="0"/>
              </a:rPr>
              <a:t>React is used to build single-page applications.</a:t>
            </a:r>
          </a:p>
          <a:p>
            <a:pPr algn="l"/>
            <a:r>
              <a:rPr lang="en-US" b="0" i="0" dirty="0">
                <a:solidFill>
                  <a:srgbClr val="000000"/>
                </a:solidFill>
                <a:effectLst/>
                <a:latin typeface="Verdana" panose="020B0604030504040204" pitchFamily="34" charset="0"/>
              </a:rPr>
              <a:t>React allows us to create reusable UI components.</a:t>
            </a:r>
          </a:p>
          <a:p>
            <a:pPr algn="l"/>
            <a:r>
              <a:rPr lang="en-US" dirty="0">
                <a:solidFill>
                  <a:srgbClr val="000000"/>
                </a:solidFill>
                <a:latin typeface="Verdana" panose="020B0604030504040204" pitchFamily="34" charset="0"/>
              </a:rPr>
              <a:t>Command to create react application:</a:t>
            </a:r>
          </a:p>
          <a:p>
            <a:pPr marL="0" indent="0" algn="l">
              <a:buNone/>
            </a:pPr>
            <a:r>
              <a:rPr lang="en-US" dirty="0">
                <a:solidFill>
                  <a:srgbClr val="000000"/>
                </a:solidFill>
                <a:latin typeface="Verdana" panose="020B0604030504040204" pitchFamily="34" charset="0"/>
              </a:rPr>
              <a:t>   </a:t>
            </a:r>
            <a:r>
              <a:rPr lang="en-US" dirty="0" err="1">
                <a:solidFill>
                  <a:srgbClr val="000000"/>
                </a:solidFill>
                <a:latin typeface="Verdana" panose="020B0604030504040204" pitchFamily="34" charset="0"/>
              </a:rPr>
              <a:t>npx</a:t>
            </a:r>
            <a:r>
              <a:rPr lang="en-US" dirty="0">
                <a:solidFill>
                  <a:srgbClr val="000000"/>
                </a:solidFill>
                <a:latin typeface="Verdana" panose="020B0604030504040204" pitchFamily="34" charset="0"/>
              </a:rPr>
              <a:t> create-react-app </a:t>
            </a:r>
            <a:r>
              <a:rPr lang="en-US" dirty="0" err="1">
                <a:solidFill>
                  <a:srgbClr val="000000"/>
                </a:solidFill>
                <a:latin typeface="Verdana" panose="020B0604030504040204" pitchFamily="34" charset="0"/>
              </a:rPr>
              <a:t>myapp</a:t>
            </a:r>
            <a:br>
              <a:rPr lang="en-US" dirty="0"/>
            </a:br>
            <a:br>
              <a:rPr lang="en-US" dirty="0"/>
            </a:br>
            <a:endParaRPr lang="en-US" dirty="0"/>
          </a:p>
        </p:txBody>
      </p:sp>
    </p:spTree>
    <p:extLst>
      <p:ext uri="{BB962C8B-B14F-4D97-AF65-F5344CB8AC3E}">
        <p14:creationId xmlns:p14="http://schemas.microsoft.com/office/powerpoint/2010/main" val="2365592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32B22-79E9-E87A-7177-54C302590389}"/>
              </a:ext>
            </a:extLst>
          </p:cNvPr>
          <p:cNvSpPr>
            <a:spLocks noGrp="1"/>
          </p:cNvSpPr>
          <p:nvPr>
            <p:ph type="title"/>
          </p:nvPr>
        </p:nvSpPr>
        <p:spPr/>
        <p:txBody>
          <a:bodyPr/>
          <a:lstStyle/>
          <a:p>
            <a:r>
              <a:rPr lang="en-US" dirty="0"/>
              <a:t>FEATURES OF REACT</a:t>
            </a:r>
          </a:p>
        </p:txBody>
      </p:sp>
      <p:sp>
        <p:nvSpPr>
          <p:cNvPr id="3" name="Content Placeholder 2">
            <a:extLst>
              <a:ext uri="{FF2B5EF4-FFF2-40B4-BE49-F238E27FC236}">
                <a16:creationId xmlns:a16="http://schemas.microsoft.com/office/drawing/2014/main" id="{A9A905F9-E234-2BF6-1A1F-5D78452C0F8F}"/>
              </a:ext>
            </a:extLst>
          </p:cNvPr>
          <p:cNvSpPr>
            <a:spLocks noGrp="1"/>
          </p:cNvSpPr>
          <p:nvPr>
            <p:ph idx="1"/>
          </p:nvPr>
        </p:nvSpPr>
        <p:spPr/>
        <p:txBody>
          <a:bodyPr>
            <a:normAutofit/>
          </a:bodyPr>
          <a:lstStyle/>
          <a:p>
            <a:pPr marL="0" indent="0">
              <a:buNone/>
            </a:pPr>
            <a:r>
              <a:rPr lang="en-US" b="1" dirty="0"/>
              <a:t>Components based architecture.</a:t>
            </a:r>
          </a:p>
          <a:p>
            <a:r>
              <a:rPr lang="en-US" b="0" i="0" dirty="0">
                <a:solidFill>
                  <a:srgbClr val="061C3D"/>
                </a:solidFill>
                <a:effectLst/>
                <a:latin typeface="Montserrat" panose="020F0502020204030204" pitchFamily="2" charset="0"/>
              </a:rPr>
              <a:t>ReactJS components are the building blocks of any React application and are one of the best features in ReactJS, and a single app is typically built of numerous components. </a:t>
            </a:r>
            <a:endParaRPr lang="en-US" b="1" dirty="0"/>
          </a:p>
        </p:txBody>
      </p:sp>
    </p:spTree>
    <p:extLst>
      <p:ext uri="{BB962C8B-B14F-4D97-AF65-F5344CB8AC3E}">
        <p14:creationId xmlns:p14="http://schemas.microsoft.com/office/powerpoint/2010/main" val="3827926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8F13-C35B-561D-6FFA-2BC3C1AFE67D}"/>
              </a:ext>
            </a:extLst>
          </p:cNvPr>
          <p:cNvSpPr>
            <a:spLocks noGrp="1"/>
          </p:cNvSpPr>
          <p:nvPr>
            <p:ph type="title"/>
          </p:nvPr>
        </p:nvSpPr>
        <p:spPr/>
        <p:txBody>
          <a:bodyPr/>
          <a:lstStyle/>
          <a:p>
            <a:r>
              <a:rPr lang="en-US" dirty="0"/>
              <a:t>Benefits of components based Architecture</a:t>
            </a:r>
          </a:p>
        </p:txBody>
      </p:sp>
      <p:sp>
        <p:nvSpPr>
          <p:cNvPr id="3" name="Content Placeholder 2">
            <a:extLst>
              <a:ext uri="{FF2B5EF4-FFF2-40B4-BE49-F238E27FC236}">
                <a16:creationId xmlns:a16="http://schemas.microsoft.com/office/drawing/2014/main" id="{4463F76C-672B-4E16-D408-881E9AB1615B}"/>
              </a:ext>
            </a:extLst>
          </p:cNvPr>
          <p:cNvSpPr>
            <a:spLocks noGrp="1"/>
          </p:cNvSpPr>
          <p:nvPr>
            <p:ph idx="1"/>
          </p:nvPr>
        </p:nvSpPr>
        <p:spPr/>
        <p:txBody>
          <a:bodyPr/>
          <a:lstStyle/>
          <a:p>
            <a:pPr defTabSz="914400" eaLnBrk="0" fontAlgn="base" hangingPunct="0">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Reusability</a:t>
            </a:r>
            <a:r>
              <a:rPr kumimoji="0" lang="en-US" altLang="en-US" sz="2400" b="0" i="0" u="none" strike="noStrike" cap="none" normalizeH="0" baseline="0" dirty="0">
                <a:ln>
                  <a:noFill/>
                </a:ln>
                <a:solidFill>
                  <a:schemeClr val="tx1"/>
                </a:solidFill>
                <a:effectLst/>
                <a:latin typeface="Arial" panose="020B0604020202020204" pitchFamily="34" charset="0"/>
              </a:rPr>
              <a:t>: Once built, components can be reused across different parts of the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Maintainability</a:t>
            </a:r>
            <a:r>
              <a:rPr kumimoji="0" lang="en-US" altLang="en-US" sz="2400" b="0" i="0" u="none" strike="noStrike" cap="none" normalizeH="0" baseline="0" dirty="0">
                <a:ln>
                  <a:noFill/>
                </a:ln>
                <a:solidFill>
                  <a:schemeClr val="tx1"/>
                </a:solidFill>
                <a:effectLst/>
                <a:latin typeface="Arial" panose="020B0604020202020204" pitchFamily="34" charset="0"/>
              </a:rPr>
              <a:t>: Smaller components are easier to test, debug, and update.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 Modularity </a:t>
            </a:r>
            <a:r>
              <a:rPr kumimoji="0" lang="en-US" altLang="en-US" sz="2400" b="0" i="0" u="none" strike="noStrike" cap="none" normalizeH="0" baseline="0" dirty="0">
                <a:ln>
                  <a:noFill/>
                </a:ln>
                <a:solidFill>
                  <a:schemeClr val="tx1"/>
                </a:solidFill>
                <a:effectLst/>
                <a:latin typeface="Arial" panose="020B0604020202020204" pitchFamily="34" charset="0"/>
              </a:rPr>
              <a:t>:Components are small, independent and easy to learn.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Scalability</a:t>
            </a:r>
            <a:r>
              <a:rPr kumimoji="0" lang="en-US" altLang="en-US" sz="2400" b="0" i="0" u="none" strike="noStrike" cap="none" normalizeH="0" baseline="0" dirty="0">
                <a:ln>
                  <a:noFill/>
                </a:ln>
                <a:solidFill>
                  <a:schemeClr val="tx1"/>
                </a:solidFill>
                <a:effectLst/>
                <a:latin typeface="Arial" panose="020B0604020202020204" pitchFamily="34" charset="0"/>
              </a:rPr>
              <a:t>: Component-based architecture makes it easier to scale applications by adding more components without affecting existing ones. </a:t>
            </a:r>
          </a:p>
        </p:txBody>
      </p:sp>
    </p:spTree>
    <p:extLst>
      <p:ext uri="{BB962C8B-B14F-4D97-AF65-F5344CB8AC3E}">
        <p14:creationId xmlns:p14="http://schemas.microsoft.com/office/powerpoint/2010/main" val="12077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198EE-0881-D9D5-BA86-8141DEF09D63}"/>
              </a:ext>
            </a:extLst>
          </p:cNvPr>
          <p:cNvSpPr>
            <a:spLocks noGrp="1"/>
          </p:cNvSpPr>
          <p:nvPr>
            <p:ph type="title"/>
          </p:nvPr>
        </p:nvSpPr>
        <p:spPr/>
        <p:txBody>
          <a:bodyPr/>
          <a:lstStyle/>
          <a:p>
            <a:r>
              <a:rPr lang="en-US" dirty="0"/>
              <a:t>REACT JSX</a:t>
            </a:r>
          </a:p>
        </p:txBody>
      </p:sp>
      <p:sp>
        <p:nvSpPr>
          <p:cNvPr id="3" name="Content Placeholder 2">
            <a:extLst>
              <a:ext uri="{FF2B5EF4-FFF2-40B4-BE49-F238E27FC236}">
                <a16:creationId xmlns:a16="http://schemas.microsoft.com/office/drawing/2014/main" id="{B3AF8446-A41B-C0B2-87FC-C25AF6313234}"/>
              </a:ext>
            </a:extLst>
          </p:cNvPr>
          <p:cNvSpPr>
            <a:spLocks noGrp="1"/>
          </p:cNvSpPr>
          <p:nvPr>
            <p:ph idx="1"/>
          </p:nvPr>
        </p:nvSpPr>
        <p:spPr/>
        <p:txBody>
          <a:bodyPr/>
          <a:lstStyle/>
          <a:p>
            <a:r>
              <a:rPr lang="en-US" b="0" i="0" dirty="0">
                <a:effectLst/>
                <a:latin typeface="Verdana" panose="020B0604030504040204" pitchFamily="34" charset="0"/>
              </a:rPr>
              <a:t>JSX stands for JavaScript XML.</a:t>
            </a:r>
          </a:p>
          <a:p>
            <a:pPr algn="l"/>
            <a:r>
              <a:rPr lang="en-US" i="0" dirty="0">
                <a:effectLst/>
                <a:latin typeface="Verdana" panose="020B0604030504040204" pitchFamily="34" charset="0"/>
              </a:rPr>
              <a:t>JSX allows us to write HTML in React.</a:t>
            </a:r>
          </a:p>
          <a:p>
            <a:pPr algn="l"/>
            <a:r>
              <a:rPr lang="en-US" b="0" i="0" dirty="0">
                <a:effectLst/>
                <a:latin typeface="Verdana" panose="020B0604030504040204" pitchFamily="34" charset="0"/>
              </a:rPr>
              <a:t>JSX makes it easier to write and add HTML in React.</a:t>
            </a:r>
            <a:br>
              <a:rPr lang="en-US" dirty="0"/>
            </a:br>
            <a:endParaRPr lang="en-US" dirty="0"/>
          </a:p>
        </p:txBody>
      </p:sp>
    </p:spTree>
    <p:extLst>
      <p:ext uri="{BB962C8B-B14F-4D97-AF65-F5344CB8AC3E}">
        <p14:creationId xmlns:p14="http://schemas.microsoft.com/office/powerpoint/2010/main" val="2513469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3F45EAB-F1C4-5FCE-F7BE-89A209D131A2}"/>
              </a:ext>
            </a:extLst>
          </p:cNvPr>
          <p:cNvPicPr>
            <a:picLocks noGrp="1" noChangeAspect="1"/>
          </p:cNvPicPr>
          <p:nvPr>
            <p:ph idx="1"/>
          </p:nvPr>
        </p:nvPicPr>
        <p:blipFill>
          <a:blip r:embed="rId2"/>
          <a:srcRect l="5601" t="19011" r="34257" b="20573"/>
          <a:stretch/>
        </p:blipFill>
        <p:spPr>
          <a:xfrm>
            <a:off x="2521974" y="432619"/>
            <a:ext cx="7148051" cy="4984955"/>
          </a:xfrm>
        </p:spPr>
      </p:pic>
    </p:spTree>
    <p:extLst>
      <p:ext uri="{BB962C8B-B14F-4D97-AF65-F5344CB8AC3E}">
        <p14:creationId xmlns:p14="http://schemas.microsoft.com/office/powerpoint/2010/main" val="1427246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5E33-44B4-6D2E-5C9C-84074DA6D2FD}"/>
              </a:ext>
            </a:extLst>
          </p:cNvPr>
          <p:cNvSpPr>
            <a:spLocks noGrp="1"/>
          </p:cNvSpPr>
          <p:nvPr>
            <p:ph type="title"/>
          </p:nvPr>
        </p:nvSpPr>
        <p:spPr/>
        <p:txBody>
          <a:bodyPr/>
          <a:lstStyle/>
          <a:p>
            <a:r>
              <a:rPr lang="en-US" dirty="0"/>
              <a:t>Virtual DOM</a:t>
            </a:r>
          </a:p>
        </p:txBody>
      </p:sp>
      <p:pic>
        <p:nvPicPr>
          <p:cNvPr id="5" name="Content Placeholder 4">
            <a:extLst>
              <a:ext uri="{FF2B5EF4-FFF2-40B4-BE49-F238E27FC236}">
                <a16:creationId xmlns:a16="http://schemas.microsoft.com/office/drawing/2014/main" id="{0B106491-0784-FD16-1E41-FAA5AE0FA60C}"/>
              </a:ext>
            </a:extLst>
          </p:cNvPr>
          <p:cNvPicPr>
            <a:picLocks noGrp="1" noChangeAspect="1"/>
          </p:cNvPicPr>
          <p:nvPr>
            <p:ph idx="1"/>
          </p:nvPr>
        </p:nvPicPr>
        <p:blipFill>
          <a:blip r:embed="rId2"/>
          <a:stretch>
            <a:fillRect/>
          </a:stretch>
        </p:blipFill>
        <p:spPr>
          <a:xfrm>
            <a:off x="1995948" y="2123768"/>
            <a:ext cx="8386917" cy="3814916"/>
          </a:xfrm>
        </p:spPr>
      </p:pic>
    </p:spTree>
    <p:extLst>
      <p:ext uri="{BB962C8B-B14F-4D97-AF65-F5344CB8AC3E}">
        <p14:creationId xmlns:p14="http://schemas.microsoft.com/office/powerpoint/2010/main" val="2107846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17C3D-C84F-AC04-EF37-50AA3669DB4A}"/>
              </a:ext>
            </a:extLst>
          </p:cNvPr>
          <p:cNvSpPr>
            <a:spLocks noGrp="1"/>
          </p:cNvSpPr>
          <p:nvPr>
            <p:ph type="title"/>
          </p:nvPr>
        </p:nvSpPr>
        <p:spPr/>
        <p:txBody>
          <a:bodyPr/>
          <a:lstStyle/>
          <a:p>
            <a:r>
              <a:rPr lang="en-US" dirty="0"/>
              <a:t>What is virtual DOM?</a:t>
            </a:r>
          </a:p>
        </p:txBody>
      </p:sp>
      <p:sp>
        <p:nvSpPr>
          <p:cNvPr id="3" name="Content Placeholder 2">
            <a:extLst>
              <a:ext uri="{FF2B5EF4-FFF2-40B4-BE49-F238E27FC236}">
                <a16:creationId xmlns:a16="http://schemas.microsoft.com/office/drawing/2014/main" id="{1C69AE41-FE39-B67D-D635-D92D959D3981}"/>
              </a:ext>
            </a:extLst>
          </p:cNvPr>
          <p:cNvSpPr>
            <a:spLocks noGrp="1"/>
          </p:cNvSpPr>
          <p:nvPr>
            <p:ph idx="1"/>
          </p:nvPr>
        </p:nvSpPr>
        <p:spPr>
          <a:xfrm>
            <a:off x="1484310" y="2979174"/>
            <a:ext cx="10018713" cy="2812026"/>
          </a:xfrm>
        </p:spPr>
        <p:txBody>
          <a:bodyPr>
            <a:normAutofit fontScale="85000" lnSpcReduction="10000"/>
          </a:bodyPr>
          <a:lstStyle/>
          <a:p>
            <a:r>
              <a:rPr lang="en-US" dirty="0"/>
              <a:t>The </a:t>
            </a:r>
            <a:r>
              <a:rPr lang="en-US" b="1" dirty="0"/>
              <a:t>DOM (Document Object Model)</a:t>
            </a:r>
            <a:r>
              <a:rPr lang="en-US" dirty="0"/>
              <a:t> is a representation of the structure of a web page, which browsers use to render the page on screen.</a:t>
            </a:r>
          </a:p>
          <a:p>
            <a:r>
              <a:rPr kumimoji="0" lang="en-US" altLang="en-US" b="0" i="0" u="none" strike="noStrike" cap="none" normalizeH="0" baseline="0" dirty="0">
                <a:ln>
                  <a:noFill/>
                </a:ln>
                <a:solidFill>
                  <a:schemeClr val="tx1"/>
                </a:solidFill>
                <a:effectLst/>
                <a:latin typeface="Arial" panose="020B0604020202020204" pitchFamily="34" charset="0"/>
              </a:rPr>
              <a:t>Every HTML element (like </a:t>
            </a:r>
            <a:r>
              <a:rPr kumimoji="0" lang="en-US" altLang="en-US" b="0" i="0" u="none" strike="noStrike" cap="none" normalizeH="0" baseline="0" dirty="0">
                <a:ln>
                  <a:noFill/>
                </a:ln>
                <a:solidFill>
                  <a:schemeClr val="tx1"/>
                </a:solidFill>
                <a:effectLst/>
                <a:latin typeface="Arial Unicode MS"/>
              </a:rPr>
              <a:t>&lt;div&gt;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&lt;p&gt;</a:t>
            </a:r>
            <a:r>
              <a:rPr kumimoji="0" lang="en-US" altLang="en-US" b="0" i="0" u="none" strike="noStrike" cap="none" normalizeH="0" baseline="0" dirty="0">
                <a:ln>
                  <a:noFill/>
                </a:ln>
                <a:solidFill>
                  <a:schemeClr val="tx1"/>
                </a:solidFill>
                <a:effectLst/>
              </a:rPr>
              <a:t>, etc.) is represented as a node in the DOM tree. </a:t>
            </a:r>
          </a:p>
          <a:p>
            <a:r>
              <a:rPr lang="en-US" dirty="0"/>
              <a:t>Updating the DOM directly (like with JavaScript) can be slow because even small changes require the browser to re-render large parts of the webpage.</a:t>
            </a:r>
          </a:p>
          <a:p>
            <a:r>
              <a:rPr lang="en-US" dirty="0"/>
              <a:t>To address this, React uses the </a:t>
            </a:r>
            <a:r>
              <a:rPr lang="en-US" b="1" dirty="0"/>
              <a:t>Virtual DOM</a:t>
            </a:r>
            <a:r>
              <a:rPr lang="en-US" dirty="0"/>
              <a:t>, which is a lightweight, in-memory representation of the real DOM. It's a copy of the DOM that React can quickly manipulate without immediately affecting the actual DOM.</a:t>
            </a: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85901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B914-401B-EB9E-A83C-82FCF6E544C9}"/>
              </a:ext>
            </a:extLst>
          </p:cNvPr>
          <p:cNvSpPr>
            <a:spLocks noGrp="1"/>
          </p:cNvSpPr>
          <p:nvPr>
            <p:ph type="title"/>
          </p:nvPr>
        </p:nvSpPr>
        <p:spPr/>
        <p:txBody>
          <a:bodyPr/>
          <a:lstStyle/>
          <a:p>
            <a:r>
              <a:rPr lang="en-US" b="1" dirty="0"/>
              <a:t>How Does the Virtual DOM Work?</a:t>
            </a:r>
            <a:br>
              <a:rPr lang="en-US" b="1" dirty="0"/>
            </a:br>
            <a:endParaRPr lang="en-US" dirty="0"/>
          </a:p>
        </p:txBody>
      </p:sp>
      <p:sp>
        <p:nvSpPr>
          <p:cNvPr id="3" name="Content Placeholder 2">
            <a:extLst>
              <a:ext uri="{FF2B5EF4-FFF2-40B4-BE49-F238E27FC236}">
                <a16:creationId xmlns:a16="http://schemas.microsoft.com/office/drawing/2014/main" id="{20B0C288-DEF1-1695-13BE-6B35B13DB2F7}"/>
              </a:ext>
            </a:extLst>
          </p:cNvPr>
          <p:cNvSpPr>
            <a:spLocks noGrp="1"/>
          </p:cNvSpPr>
          <p:nvPr>
            <p:ph idx="1"/>
          </p:nvPr>
        </p:nvSpPr>
        <p:spPr/>
        <p:txBody>
          <a:bodyPr>
            <a:normAutofit fontScale="77500" lnSpcReduction="20000"/>
          </a:bodyPr>
          <a:lstStyle/>
          <a:p>
            <a:r>
              <a:rPr lang="en-US" b="1" dirty="0"/>
              <a:t>Initial Rendering</a:t>
            </a:r>
            <a:r>
              <a:rPr lang="en-US" dirty="0"/>
              <a:t>: When a React component renders for the first time, React creates a Virtual DOM, which is a virtual copy of the real DOM. React uses this Virtual DOM to figure out what the UI should look like.</a:t>
            </a:r>
          </a:p>
          <a:p>
            <a:r>
              <a:rPr lang="en-US" b="1" dirty="0"/>
              <a:t>State Changes and Re-rendering</a:t>
            </a:r>
            <a:r>
              <a:rPr lang="en-US" dirty="0"/>
              <a:t>: When something in the app changes, like the state of a component, React doesn’t immediately change the real DOM. Instead, it updates the Virtual DOM first.</a:t>
            </a:r>
          </a:p>
          <a:p>
            <a:r>
              <a:rPr lang="en-US" b="1" dirty="0"/>
              <a:t>Diffing Algorithm</a:t>
            </a:r>
            <a:r>
              <a:rPr lang="en-US" dirty="0"/>
              <a:t>: React then compares (or "diffs") the new Virtual DOM with the old Virtual DOM to determine what has changed. This process is called </a:t>
            </a:r>
            <a:r>
              <a:rPr lang="en-US" b="1" dirty="0"/>
              <a:t>reconciliation</a:t>
            </a:r>
            <a:r>
              <a:rPr lang="en-US" dirty="0"/>
              <a:t>.</a:t>
            </a:r>
          </a:p>
          <a:p>
            <a:r>
              <a:rPr lang="en-US" b="1" dirty="0"/>
              <a:t>Updating the Real DOM</a:t>
            </a:r>
            <a:r>
              <a:rPr lang="en-US" dirty="0"/>
              <a:t>: Once React identifies what parts of the Virtual DOM have changed, it updates only those parts in the actual DOM. This is much faster than updating the entire DOM because only the specific elements that need to be changed are modified.</a:t>
            </a:r>
          </a:p>
        </p:txBody>
      </p:sp>
    </p:spTree>
    <p:extLst>
      <p:ext uri="{BB962C8B-B14F-4D97-AF65-F5344CB8AC3E}">
        <p14:creationId xmlns:p14="http://schemas.microsoft.com/office/powerpoint/2010/main" val="134600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B3737-D2C1-AF98-8C2C-C5E3279A292E}"/>
              </a:ext>
            </a:extLst>
          </p:cNvPr>
          <p:cNvSpPr>
            <a:spLocks noGrp="1"/>
          </p:cNvSpPr>
          <p:nvPr>
            <p:ph type="title"/>
          </p:nvPr>
        </p:nvSpPr>
        <p:spPr/>
        <p:txBody>
          <a:bodyPr/>
          <a:lstStyle/>
          <a:p>
            <a:r>
              <a:rPr lang="en-US" dirty="0"/>
              <a:t>REACT COMPONENTS</a:t>
            </a:r>
          </a:p>
        </p:txBody>
      </p:sp>
      <p:sp>
        <p:nvSpPr>
          <p:cNvPr id="3" name="Content Placeholder 2">
            <a:extLst>
              <a:ext uri="{FF2B5EF4-FFF2-40B4-BE49-F238E27FC236}">
                <a16:creationId xmlns:a16="http://schemas.microsoft.com/office/drawing/2014/main" id="{DEE908E6-A320-C34C-09F5-CD91D9CE29AC}"/>
              </a:ext>
            </a:extLst>
          </p:cNvPr>
          <p:cNvSpPr>
            <a:spLocks noGrp="1"/>
          </p:cNvSpPr>
          <p:nvPr>
            <p:ph idx="1"/>
          </p:nvPr>
        </p:nvSpPr>
        <p:spPr/>
        <p:txBody>
          <a:bodyPr/>
          <a:lstStyle/>
          <a:p>
            <a:r>
              <a:rPr lang="en-US" dirty="0">
                <a:latin typeface="Verdana" panose="020B0604030504040204" pitchFamily="34" charset="0"/>
                <a:ea typeface="Verdana" panose="020B0604030504040204" pitchFamily="34" charset="0"/>
              </a:rPr>
              <a:t>React components are the building blocks of a React application</a:t>
            </a:r>
            <a:r>
              <a:rPr lang="en-US" b="0" i="0" dirty="0">
                <a:effectLst/>
                <a:latin typeface="Verdana" panose="020B0604030504040204" pitchFamily="34" charset="0"/>
                <a:ea typeface="Verdana" panose="020B0604030504040204" pitchFamily="34" charset="0"/>
              </a:rPr>
              <a:t>.</a:t>
            </a:r>
          </a:p>
          <a:p>
            <a:r>
              <a:rPr lang="en-US" dirty="0">
                <a:latin typeface="Verdana" panose="020B0604030504040204" pitchFamily="34" charset="0"/>
                <a:ea typeface="Verdana" panose="020B0604030504040204" pitchFamily="34" charset="0"/>
              </a:rPr>
              <a:t>They allow you to break the UI into independent, reusable pieces.</a:t>
            </a:r>
            <a:endParaRPr lang="en-US" b="0" i="0" dirty="0">
              <a:effectLst/>
              <a:latin typeface="Verdana" panose="020B0604030504040204" pitchFamily="34" charset="0"/>
              <a:ea typeface="Verdana" panose="020B0604030504040204" pitchFamily="34" charset="0"/>
            </a:endParaRPr>
          </a:p>
          <a:p>
            <a:r>
              <a:rPr lang="en-US" b="0" i="0" dirty="0">
                <a:effectLst/>
                <a:latin typeface="Verdana" panose="020B0604030504040204" pitchFamily="34" charset="0"/>
              </a:rPr>
              <a:t>Components come in two types, Class components and Function components.</a:t>
            </a:r>
          </a:p>
          <a:p>
            <a:pPr marL="0" indent="0">
              <a:buNone/>
            </a:pPr>
            <a:endParaRPr lang="en-US" dirty="0"/>
          </a:p>
        </p:txBody>
      </p:sp>
    </p:spTree>
    <p:extLst>
      <p:ext uri="{BB962C8B-B14F-4D97-AF65-F5344CB8AC3E}">
        <p14:creationId xmlns:p14="http://schemas.microsoft.com/office/powerpoint/2010/main" val="5254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4588D1-C1A7-26CC-4990-F385C6E1A4E0}"/>
              </a:ext>
            </a:extLst>
          </p:cNvPr>
          <p:cNvPicPr>
            <a:picLocks noGrp="1" noChangeAspect="1"/>
          </p:cNvPicPr>
          <p:nvPr>
            <p:ph idx="1"/>
          </p:nvPr>
        </p:nvPicPr>
        <p:blipFill>
          <a:blip r:embed="rId2"/>
          <a:stretch>
            <a:fillRect/>
          </a:stretch>
        </p:blipFill>
        <p:spPr>
          <a:xfrm>
            <a:off x="1612490" y="717755"/>
            <a:ext cx="9733936" cy="5073445"/>
          </a:xfrm>
        </p:spPr>
      </p:pic>
    </p:spTree>
    <p:extLst>
      <p:ext uri="{BB962C8B-B14F-4D97-AF65-F5344CB8AC3E}">
        <p14:creationId xmlns:p14="http://schemas.microsoft.com/office/powerpoint/2010/main" val="1626416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39B73-D8DF-3F49-4DD6-CA5019D3D39E}"/>
              </a:ext>
            </a:extLst>
          </p:cNvPr>
          <p:cNvSpPr>
            <a:spLocks noGrp="1"/>
          </p:cNvSpPr>
          <p:nvPr>
            <p:ph type="title"/>
          </p:nvPr>
        </p:nvSpPr>
        <p:spPr/>
        <p:txBody>
          <a:bodyPr/>
          <a:lstStyle/>
          <a:p>
            <a:r>
              <a:rPr lang="en-US" dirty="0"/>
              <a:t>REACT PROPS</a:t>
            </a:r>
          </a:p>
        </p:txBody>
      </p:sp>
      <p:sp>
        <p:nvSpPr>
          <p:cNvPr id="3" name="Content Placeholder 2">
            <a:extLst>
              <a:ext uri="{FF2B5EF4-FFF2-40B4-BE49-F238E27FC236}">
                <a16:creationId xmlns:a16="http://schemas.microsoft.com/office/drawing/2014/main" id="{741215CE-6A1A-2DF5-FE25-EFCA17D0CF52}"/>
              </a:ext>
            </a:extLst>
          </p:cNvPr>
          <p:cNvSpPr>
            <a:spLocks noGrp="1"/>
          </p:cNvSpPr>
          <p:nvPr>
            <p:ph idx="1"/>
          </p:nvPr>
        </p:nvSpPr>
        <p:spPr>
          <a:xfrm>
            <a:off x="1484310" y="1966453"/>
            <a:ext cx="10018713" cy="3824748"/>
          </a:xfrm>
        </p:spPr>
        <p:txBody>
          <a:bodyPr>
            <a:normAutofit fontScale="77500" lnSpcReduction="20000"/>
          </a:bodyPr>
          <a:lstStyle/>
          <a:p>
            <a:pPr algn="l"/>
            <a:endParaRPr lang="en-US" dirty="0">
              <a:latin typeface="Verdana" panose="020B0604030504040204" pitchFamily="34" charset="0"/>
              <a:ea typeface="Verdana" panose="020B0604030504040204" pitchFamily="34" charset="0"/>
            </a:endParaRPr>
          </a:p>
          <a:p>
            <a:pPr algn="l"/>
            <a:r>
              <a:rPr lang="en-US" dirty="0">
                <a:latin typeface="Verdana" panose="020B0604030504040204" pitchFamily="34" charset="0"/>
                <a:ea typeface="Verdana" panose="020B0604030504040204" pitchFamily="34" charset="0"/>
              </a:rPr>
              <a:t>Props -properties</a:t>
            </a:r>
          </a:p>
          <a:p>
            <a:pPr algn="l"/>
            <a:r>
              <a:rPr lang="en-US" dirty="0">
                <a:latin typeface="Verdana" panose="020B0604030504040204" pitchFamily="34" charset="0"/>
                <a:ea typeface="Verdana" panose="020B0604030504040204" pitchFamily="34" charset="0"/>
              </a:rPr>
              <a:t>Props are used to pass data from one component to another.</a:t>
            </a:r>
          </a:p>
          <a:p>
            <a:pPr algn="l"/>
            <a:r>
              <a:rPr lang="en-US" dirty="0">
                <a:latin typeface="Verdana" panose="020B0604030504040204" pitchFamily="34" charset="0"/>
                <a:ea typeface="Verdana" panose="020B0604030504040204" pitchFamily="34" charset="0"/>
              </a:rPr>
              <a:t>Props are passed to components in the way similar to that of HTML tag attributes.</a:t>
            </a:r>
          </a:p>
          <a:p>
            <a:pPr algn="l"/>
            <a:r>
              <a:rPr lang="en-US" dirty="0">
                <a:latin typeface="Verdana" panose="020B0604030504040204" pitchFamily="34" charset="0"/>
                <a:ea typeface="Verdana" panose="020B0604030504040204" pitchFamily="34" charset="0"/>
              </a:rPr>
              <a:t>Props are immutable, meaning the receiving component cannot modify them.</a:t>
            </a:r>
          </a:p>
          <a:p>
            <a:pPr algn="l"/>
            <a:r>
              <a:rPr lang="en-US" dirty="0">
                <a:latin typeface="Verdana" panose="020B0604030504040204" pitchFamily="34" charset="0"/>
                <a:ea typeface="Verdana" panose="020B0604030504040204" pitchFamily="34" charset="0"/>
              </a:rPr>
              <a:t>They allow components to be reusable by passing different data into them.</a:t>
            </a:r>
          </a:p>
          <a:p>
            <a:pPr algn="l"/>
            <a:r>
              <a:rPr lang="en-US" b="0" i="0" dirty="0">
                <a:effectLst/>
                <a:latin typeface="Verdana" panose="020B0604030504040204" pitchFamily="34" charset="0"/>
                <a:ea typeface="Verdana" panose="020B0604030504040204" pitchFamily="34" charset="0"/>
              </a:rPr>
              <a:t>Props are sent by parent component to child component.</a:t>
            </a:r>
          </a:p>
          <a:p>
            <a:pPr marL="0" indent="0">
              <a:buNone/>
            </a:pPr>
            <a:br>
              <a:rPr lang="en-US" b="0" i="0" dirty="0">
                <a:solidFill>
                  <a:srgbClr val="000000"/>
                </a:solidFill>
                <a:effectLst/>
                <a:latin typeface="Verdana" panose="020B0604030504040204" pitchFamily="34" charset="0"/>
              </a:rPr>
            </a:br>
            <a:br>
              <a:rPr lang="en-US" dirty="0"/>
            </a:br>
            <a:endParaRPr lang="en-US" dirty="0"/>
          </a:p>
        </p:txBody>
      </p:sp>
    </p:spTree>
    <p:extLst>
      <p:ext uri="{BB962C8B-B14F-4D97-AF65-F5344CB8AC3E}">
        <p14:creationId xmlns:p14="http://schemas.microsoft.com/office/powerpoint/2010/main" val="1994279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5855-9FC5-287C-C8E4-B76A5DACAEDC}"/>
              </a:ext>
            </a:extLst>
          </p:cNvPr>
          <p:cNvSpPr>
            <a:spLocks noGrp="1"/>
          </p:cNvSpPr>
          <p:nvPr>
            <p:ph type="title"/>
          </p:nvPr>
        </p:nvSpPr>
        <p:spPr/>
        <p:txBody>
          <a:bodyPr/>
          <a:lstStyle/>
          <a:p>
            <a:r>
              <a:rPr lang="en-US" dirty="0"/>
              <a:t>REACT STATE</a:t>
            </a:r>
          </a:p>
        </p:txBody>
      </p:sp>
      <p:sp>
        <p:nvSpPr>
          <p:cNvPr id="3" name="Content Placeholder 2">
            <a:extLst>
              <a:ext uri="{FF2B5EF4-FFF2-40B4-BE49-F238E27FC236}">
                <a16:creationId xmlns:a16="http://schemas.microsoft.com/office/drawing/2014/main" id="{3BCAF6E7-F84E-9961-DF0A-A8C85106CB12}"/>
              </a:ext>
            </a:extLst>
          </p:cNvPr>
          <p:cNvSpPr>
            <a:spLocks noGrp="1"/>
          </p:cNvSpPr>
          <p:nvPr>
            <p:ph idx="1"/>
          </p:nvPr>
        </p:nvSpPr>
        <p:spPr/>
        <p:txBody>
          <a:bodyPr/>
          <a:lstStyle/>
          <a:p>
            <a:r>
              <a:rPr lang="en-US" dirty="0"/>
              <a:t>In React, </a:t>
            </a:r>
            <a:r>
              <a:rPr lang="en-US" b="1" dirty="0"/>
              <a:t>state</a:t>
            </a:r>
            <a:r>
              <a:rPr lang="en-US" dirty="0"/>
              <a:t> refers to an object that holds data or information about the component and influences what is rendered on the screen.</a:t>
            </a:r>
          </a:p>
          <a:p>
            <a:r>
              <a:rPr lang="en-US" dirty="0"/>
              <a:t>const [count, </a:t>
            </a:r>
            <a:r>
              <a:rPr lang="en-US" dirty="0" err="1"/>
              <a:t>setCount</a:t>
            </a:r>
            <a:r>
              <a:rPr lang="en-US" dirty="0"/>
              <a:t>] = </a:t>
            </a:r>
            <a:r>
              <a:rPr lang="en-US" dirty="0" err="1"/>
              <a:t>useState</a:t>
            </a:r>
            <a:r>
              <a:rPr lang="en-US" dirty="0"/>
              <a:t>(0);</a:t>
            </a:r>
          </a:p>
          <a:p>
            <a:r>
              <a:rPr lang="en-US" dirty="0"/>
              <a:t>Here count  for storing data and </a:t>
            </a:r>
            <a:r>
              <a:rPr lang="en-US" dirty="0" err="1"/>
              <a:t>setCount</a:t>
            </a:r>
            <a:r>
              <a:rPr lang="en-US" dirty="0"/>
              <a:t> for updating data.</a:t>
            </a:r>
          </a:p>
          <a:p>
            <a:endParaRPr lang="en-US" dirty="0"/>
          </a:p>
        </p:txBody>
      </p:sp>
    </p:spTree>
    <p:extLst>
      <p:ext uri="{BB962C8B-B14F-4D97-AF65-F5344CB8AC3E}">
        <p14:creationId xmlns:p14="http://schemas.microsoft.com/office/powerpoint/2010/main" val="144479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90667-2D10-2891-A62B-2A18667AD0FB}"/>
              </a:ext>
            </a:extLst>
          </p:cNvPr>
          <p:cNvSpPr>
            <a:spLocks noGrp="1"/>
          </p:cNvSpPr>
          <p:nvPr>
            <p:ph type="title"/>
          </p:nvPr>
        </p:nvSpPr>
        <p:spPr/>
        <p:txBody>
          <a:bodyPr/>
          <a:lstStyle/>
          <a:p>
            <a:r>
              <a:rPr lang="en-US" dirty="0"/>
              <a:t>REACT EVENTS</a:t>
            </a:r>
          </a:p>
        </p:txBody>
      </p:sp>
      <p:sp>
        <p:nvSpPr>
          <p:cNvPr id="3" name="Content Placeholder 2">
            <a:extLst>
              <a:ext uri="{FF2B5EF4-FFF2-40B4-BE49-F238E27FC236}">
                <a16:creationId xmlns:a16="http://schemas.microsoft.com/office/drawing/2014/main" id="{CE6D13B0-692E-2EF7-E36E-91845FF011BA}"/>
              </a:ext>
            </a:extLst>
          </p:cNvPr>
          <p:cNvSpPr>
            <a:spLocks noGrp="1"/>
          </p:cNvSpPr>
          <p:nvPr>
            <p:ph idx="1"/>
          </p:nvPr>
        </p:nvSpPr>
        <p:spPr/>
        <p:txBody>
          <a:bodyPr/>
          <a:lstStyle/>
          <a:p>
            <a:pPr algn="l"/>
            <a:r>
              <a:rPr lang="en-US" b="0" i="0" dirty="0">
                <a:effectLst/>
                <a:latin typeface="Verdana" panose="020B0604030504040204" pitchFamily="34" charset="0"/>
              </a:rPr>
              <a:t>Just like HTML DOM events, React can perform actions based on user events.</a:t>
            </a:r>
          </a:p>
          <a:p>
            <a:pPr algn="l"/>
            <a:r>
              <a:rPr lang="en-US" b="0" i="0" dirty="0">
                <a:effectLst/>
                <a:latin typeface="Verdana" panose="020B0604030504040204" pitchFamily="34" charset="0"/>
              </a:rPr>
              <a:t>React has the same events as HTML: click, change, mouseover etc.</a:t>
            </a:r>
          </a:p>
          <a:p>
            <a:pPr marL="0" indent="0">
              <a:buNone/>
            </a:pPr>
            <a:br>
              <a:rPr lang="en-US" dirty="0"/>
            </a:br>
            <a:br>
              <a:rPr lang="en-US" dirty="0"/>
            </a:br>
            <a:endParaRPr lang="en-US" dirty="0"/>
          </a:p>
        </p:txBody>
      </p:sp>
    </p:spTree>
    <p:extLst>
      <p:ext uri="{BB962C8B-B14F-4D97-AF65-F5344CB8AC3E}">
        <p14:creationId xmlns:p14="http://schemas.microsoft.com/office/powerpoint/2010/main" val="665079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C21E0-18EC-428A-A8E2-24607D600C7D}"/>
              </a:ext>
            </a:extLst>
          </p:cNvPr>
          <p:cNvSpPr>
            <a:spLocks noGrp="1"/>
          </p:cNvSpPr>
          <p:nvPr>
            <p:ph type="title"/>
          </p:nvPr>
        </p:nvSpPr>
        <p:spPr/>
        <p:txBody>
          <a:bodyPr/>
          <a:lstStyle/>
          <a:p>
            <a:r>
              <a:rPr lang="en-US" dirty="0"/>
              <a:t>REACT HOOKS</a:t>
            </a:r>
          </a:p>
        </p:txBody>
      </p:sp>
      <p:sp>
        <p:nvSpPr>
          <p:cNvPr id="3" name="Content Placeholder 2">
            <a:extLst>
              <a:ext uri="{FF2B5EF4-FFF2-40B4-BE49-F238E27FC236}">
                <a16:creationId xmlns:a16="http://schemas.microsoft.com/office/drawing/2014/main" id="{8593DA32-F5E9-6EF7-DB02-AC9A66EA2920}"/>
              </a:ext>
            </a:extLst>
          </p:cNvPr>
          <p:cNvSpPr>
            <a:spLocks noGrp="1"/>
          </p:cNvSpPr>
          <p:nvPr>
            <p:ph idx="1"/>
          </p:nvPr>
        </p:nvSpPr>
        <p:spPr/>
        <p:txBody>
          <a:bodyPr>
            <a:normAutofit fontScale="92500"/>
          </a:bodyPr>
          <a:lstStyle/>
          <a:p>
            <a:pPr algn="l"/>
            <a:r>
              <a:rPr lang="en-US" b="0" i="0" dirty="0">
                <a:effectLst/>
                <a:latin typeface="Verdana" panose="020B0604030504040204" pitchFamily="34" charset="0"/>
              </a:rPr>
              <a:t>Hooks allow function components to have access to state and other React features. </a:t>
            </a:r>
          </a:p>
          <a:p>
            <a:pPr algn="l"/>
            <a:r>
              <a:rPr lang="en-US" b="0" i="0" dirty="0" err="1">
                <a:solidFill>
                  <a:srgbClr val="000000"/>
                </a:solidFill>
                <a:effectLst/>
                <a:latin typeface="Verdana" panose="020B0604030504040204" pitchFamily="34" charset="0"/>
              </a:rPr>
              <a:t>UseState</a:t>
            </a:r>
            <a:r>
              <a:rPr lang="en-US" b="0" i="0" dirty="0">
                <a:solidFill>
                  <a:srgbClr val="000000"/>
                </a:solidFill>
                <a:effectLst/>
                <a:latin typeface="Verdana" panose="020B0604030504040204" pitchFamily="34" charset="0"/>
              </a:rPr>
              <a:t>:</a:t>
            </a:r>
            <a:r>
              <a:rPr lang="en-US" b="0" i="0" dirty="0">
                <a:solidFill>
                  <a:srgbClr val="DDDDDD"/>
                </a:solidFill>
                <a:effectLst/>
                <a:latin typeface="Verdana" panose="020B0604030504040204" pitchFamily="34" charset="0"/>
              </a:rPr>
              <a:t> </a:t>
            </a:r>
            <a:r>
              <a:rPr lang="en-US" b="0" i="0" dirty="0">
                <a:effectLst/>
                <a:latin typeface="Verdana" panose="020B0604030504040204" pitchFamily="34" charset="0"/>
              </a:rPr>
              <a:t>Hook allows us to track state in a function component.</a:t>
            </a:r>
          </a:p>
          <a:p>
            <a:pPr algn="l"/>
            <a:r>
              <a:rPr lang="en-US" dirty="0" err="1">
                <a:solidFill>
                  <a:srgbClr val="000000"/>
                </a:solidFill>
                <a:latin typeface="Verdana" panose="020B0604030504040204" pitchFamily="34" charset="0"/>
              </a:rPr>
              <a:t>useEffect</a:t>
            </a:r>
            <a:r>
              <a:rPr lang="en-US" dirty="0">
                <a:solidFill>
                  <a:srgbClr val="000000"/>
                </a:solidFill>
                <a:latin typeface="Verdana" panose="020B0604030504040204" pitchFamily="34" charset="0"/>
              </a:rPr>
              <a:t>: </a:t>
            </a:r>
            <a:r>
              <a:rPr lang="en-US" b="0" i="0" dirty="0">
                <a:effectLst/>
                <a:latin typeface="Verdana" panose="020B0604030504040204" pitchFamily="34" charset="0"/>
              </a:rPr>
              <a:t>Hook allows you to perform side effects in your components.</a:t>
            </a:r>
          </a:p>
          <a:p>
            <a:pPr marL="0" indent="0" algn="l">
              <a:buNone/>
            </a:pPr>
            <a:br>
              <a:rPr lang="en-US" b="0" i="0" dirty="0">
                <a:solidFill>
                  <a:srgbClr val="000000"/>
                </a:solidFill>
                <a:effectLst/>
                <a:latin typeface="Verdana" panose="020B0604030504040204" pitchFamily="34" charset="0"/>
              </a:rPr>
            </a:br>
            <a:endParaRPr lang="en-US" dirty="0"/>
          </a:p>
        </p:txBody>
      </p:sp>
    </p:spTree>
    <p:extLst>
      <p:ext uri="{BB962C8B-B14F-4D97-AF65-F5344CB8AC3E}">
        <p14:creationId xmlns:p14="http://schemas.microsoft.com/office/powerpoint/2010/main" val="1115424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95F94-08F5-DB88-90C7-F46A6896B1E5}"/>
              </a:ext>
            </a:extLst>
          </p:cNvPr>
          <p:cNvSpPr>
            <a:spLocks noGrp="1"/>
          </p:cNvSpPr>
          <p:nvPr>
            <p:ph type="title"/>
          </p:nvPr>
        </p:nvSpPr>
        <p:spPr/>
        <p:txBody>
          <a:bodyPr/>
          <a:lstStyle/>
          <a:p>
            <a:r>
              <a:rPr lang="en-US" dirty="0" err="1"/>
              <a:t>UseEffext</a:t>
            </a:r>
            <a:r>
              <a:rPr lang="en-US" dirty="0"/>
              <a:t> Hook</a:t>
            </a:r>
          </a:p>
        </p:txBody>
      </p:sp>
      <p:sp>
        <p:nvSpPr>
          <p:cNvPr id="3" name="Content Placeholder 2">
            <a:extLst>
              <a:ext uri="{FF2B5EF4-FFF2-40B4-BE49-F238E27FC236}">
                <a16:creationId xmlns:a16="http://schemas.microsoft.com/office/drawing/2014/main" id="{2109286A-B153-24BC-9A24-AA625F5BF55E}"/>
              </a:ext>
            </a:extLst>
          </p:cNvPr>
          <p:cNvSpPr>
            <a:spLocks noGrp="1"/>
          </p:cNvSpPr>
          <p:nvPr>
            <p:ph idx="1"/>
          </p:nvPr>
        </p:nvSpPr>
        <p:spPr/>
        <p:txBody>
          <a:bodyPr>
            <a:normAutofit fontScale="77500" lnSpcReduction="20000"/>
          </a:bodyPr>
          <a:lstStyle/>
          <a:p>
            <a:r>
              <a:rPr lang="en-US" dirty="0"/>
              <a:t>The Effect Hook lets you perform side effects in function components.</a:t>
            </a:r>
          </a:p>
          <a:p>
            <a:r>
              <a:rPr lang="en-US" dirty="0"/>
              <a:t>Side effects</a:t>
            </a:r>
          </a:p>
          <a:p>
            <a:r>
              <a:rPr lang="en-US" dirty="0"/>
              <a:t>Side effects are actions which are performed in the "outside world." We perform a side effect when we need to reach outside of our React components to do something, like modify anything outside its body.</a:t>
            </a:r>
          </a:p>
          <a:p>
            <a:r>
              <a:rPr lang="en-US" dirty="0"/>
              <a:t>Side effects examples: Fetching data, Directly updating the DOM etc.</a:t>
            </a:r>
          </a:p>
          <a:p>
            <a:r>
              <a:rPr lang="en-US" dirty="0"/>
              <a:t>What does </a:t>
            </a:r>
            <a:r>
              <a:rPr lang="en-US" dirty="0" err="1"/>
              <a:t>UseEffect</a:t>
            </a:r>
            <a:r>
              <a:rPr lang="en-US" dirty="0"/>
              <a:t> do?</a:t>
            </a:r>
          </a:p>
          <a:p>
            <a:r>
              <a:rPr lang="en-US" dirty="0"/>
              <a:t>By using this hook, you tell React that your component needs to do something after render.</a:t>
            </a:r>
          </a:p>
          <a:p>
            <a:r>
              <a:rPr lang="en-US" dirty="0" err="1"/>
              <a:t>UseEffect</a:t>
            </a:r>
            <a:r>
              <a:rPr lang="en-US" dirty="0"/>
              <a:t> runs after every render by default.</a:t>
            </a:r>
          </a:p>
          <a:p>
            <a:endParaRPr lang="en-US" dirty="0"/>
          </a:p>
        </p:txBody>
      </p:sp>
    </p:spTree>
    <p:extLst>
      <p:ext uri="{BB962C8B-B14F-4D97-AF65-F5344CB8AC3E}">
        <p14:creationId xmlns:p14="http://schemas.microsoft.com/office/powerpoint/2010/main" val="3927787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A185-BA33-4B45-8FDF-0E850C56F074}"/>
              </a:ext>
            </a:extLst>
          </p:cNvPr>
          <p:cNvSpPr>
            <a:spLocks noGrp="1"/>
          </p:cNvSpPr>
          <p:nvPr>
            <p:ph type="title"/>
          </p:nvPr>
        </p:nvSpPr>
        <p:spPr/>
        <p:txBody>
          <a:bodyPr/>
          <a:lstStyle/>
          <a:p>
            <a:r>
              <a:rPr lang="en-US" dirty="0"/>
              <a:t>REACT ROUTING</a:t>
            </a:r>
          </a:p>
        </p:txBody>
      </p:sp>
      <p:sp>
        <p:nvSpPr>
          <p:cNvPr id="3" name="Content Placeholder 2">
            <a:extLst>
              <a:ext uri="{FF2B5EF4-FFF2-40B4-BE49-F238E27FC236}">
                <a16:creationId xmlns:a16="http://schemas.microsoft.com/office/drawing/2014/main" id="{BFC6828E-3D84-D454-32E9-8D95511308FF}"/>
              </a:ext>
            </a:extLst>
          </p:cNvPr>
          <p:cNvSpPr>
            <a:spLocks noGrp="1"/>
          </p:cNvSpPr>
          <p:nvPr>
            <p:ph idx="1"/>
          </p:nvPr>
        </p:nvSpPr>
        <p:spPr/>
        <p:txBody>
          <a:bodyPr/>
          <a:lstStyle/>
          <a:p>
            <a:pPr algn="l"/>
            <a:r>
              <a:rPr lang="en-US" b="0" i="0" dirty="0">
                <a:effectLst/>
                <a:latin typeface="Verdana" panose="020B0604030504040204" pitchFamily="34" charset="0"/>
              </a:rPr>
              <a:t>Create React App doesn't include page routing.</a:t>
            </a:r>
          </a:p>
          <a:p>
            <a:pPr algn="l"/>
            <a:r>
              <a:rPr lang="en-US" i="0" dirty="0">
                <a:effectLst/>
                <a:latin typeface="Verdana" panose="020B0604030504040204" pitchFamily="34" charset="0"/>
              </a:rPr>
              <a:t>React Router is the most popular solution.</a:t>
            </a:r>
          </a:p>
          <a:p>
            <a:r>
              <a:rPr lang="en-US" dirty="0">
                <a:latin typeface="Verdana" panose="020B0604030504040204" pitchFamily="34" charset="0"/>
                <a:ea typeface="Verdana" panose="020B0604030504040204" pitchFamily="34" charset="0"/>
              </a:rPr>
              <a:t>Command to  add react route : </a:t>
            </a:r>
            <a:r>
              <a:rPr lang="en-US" dirty="0" err="1">
                <a:latin typeface="Verdana" panose="020B0604030504040204" pitchFamily="34" charset="0"/>
                <a:ea typeface="Verdana" panose="020B0604030504040204" pitchFamily="34" charset="0"/>
              </a:rPr>
              <a:t>npm</a:t>
            </a:r>
            <a:r>
              <a:rPr lang="en-US" dirty="0">
                <a:latin typeface="Verdana" panose="020B0604030504040204" pitchFamily="34" charset="0"/>
                <a:ea typeface="Verdana" panose="020B0604030504040204" pitchFamily="34" charset="0"/>
              </a:rPr>
              <a:t> </a:t>
            </a:r>
            <a:r>
              <a:rPr lang="en-US" dirty="0" err="1">
                <a:latin typeface="Verdana" panose="020B0604030504040204" pitchFamily="34" charset="0"/>
                <a:ea typeface="Verdana" panose="020B0604030504040204" pitchFamily="34" charset="0"/>
              </a:rPr>
              <a:t>i</a:t>
            </a:r>
            <a:r>
              <a:rPr lang="en-US" dirty="0">
                <a:latin typeface="Verdana" panose="020B0604030504040204" pitchFamily="34" charset="0"/>
                <a:ea typeface="Verdana" panose="020B0604030504040204" pitchFamily="34" charset="0"/>
              </a:rPr>
              <a:t> react-router-</a:t>
            </a:r>
            <a:r>
              <a:rPr lang="en-US" dirty="0" err="1">
                <a:latin typeface="Verdana" panose="020B0604030504040204" pitchFamily="34" charset="0"/>
                <a:ea typeface="Verdana" panose="020B0604030504040204" pitchFamily="34" charset="0"/>
              </a:rPr>
              <a:t>dom</a:t>
            </a:r>
            <a:br>
              <a:rPr lang="en-US" dirty="0">
                <a:latin typeface="Verdana" panose="020B0604030504040204" pitchFamily="34" charset="0"/>
                <a:ea typeface="Verdana" panose="020B0604030504040204" pitchFamily="34" charset="0"/>
              </a:rPr>
            </a:br>
            <a:br>
              <a:rPr lang="en-US" dirty="0">
                <a:latin typeface="Verdana" panose="020B0604030504040204" pitchFamily="34" charset="0"/>
                <a:ea typeface="Verdana" panose="020B0604030504040204" pitchFamily="34" charset="0"/>
              </a:rPr>
            </a:br>
            <a:endParaRPr lang="en-US"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946537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524D-0C95-8A30-F7AD-1142823A21A7}"/>
              </a:ext>
            </a:extLst>
          </p:cNvPr>
          <p:cNvSpPr>
            <a:spLocks noGrp="1"/>
          </p:cNvSpPr>
          <p:nvPr>
            <p:ph type="title"/>
          </p:nvPr>
        </p:nvSpPr>
        <p:spPr/>
        <p:txBody>
          <a:bodyPr/>
          <a:lstStyle/>
          <a:p>
            <a:r>
              <a:rPr lang="en-US" dirty="0"/>
              <a:t>API(Application programming Interface)</a:t>
            </a:r>
          </a:p>
        </p:txBody>
      </p:sp>
      <p:sp>
        <p:nvSpPr>
          <p:cNvPr id="3" name="Content Placeholder 2">
            <a:extLst>
              <a:ext uri="{FF2B5EF4-FFF2-40B4-BE49-F238E27FC236}">
                <a16:creationId xmlns:a16="http://schemas.microsoft.com/office/drawing/2014/main" id="{4A348F5A-A78E-DB8A-5DBC-0FCACCE14A9C}"/>
              </a:ext>
            </a:extLst>
          </p:cNvPr>
          <p:cNvSpPr>
            <a:spLocks noGrp="1"/>
          </p:cNvSpPr>
          <p:nvPr>
            <p:ph idx="1"/>
          </p:nvPr>
        </p:nvSpPr>
        <p:spPr/>
        <p:txBody>
          <a:bodyPr/>
          <a:lstStyle/>
          <a:p>
            <a:r>
              <a:rPr lang="en-US" dirty="0"/>
              <a:t>API is used to connect backend with </a:t>
            </a:r>
            <a:r>
              <a:rPr lang="en-US" dirty="0" err="1"/>
              <a:t>frondEnd</a:t>
            </a:r>
            <a:r>
              <a:rPr lang="en-US" dirty="0"/>
              <a:t>.</a:t>
            </a:r>
          </a:p>
          <a:p>
            <a:r>
              <a:rPr lang="en-US" dirty="0"/>
              <a:t>It act as a middle man between browser and server.</a:t>
            </a:r>
          </a:p>
          <a:p>
            <a:r>
              <a:rPr lang="en-US" dirty="0"/>
              <a:t>It is also called webservices.</a:t>
            </a:r>
          </a:p>
        </p:txBody>
      </p:sp>
    </p:spTree>
    <p:extLst>
      <p:ext uri="{BB962C8B-B14F-4D97-AF65-F5344CB8AC3E}">
        <p14:creationId xmlns:p14="http://schemas.microsoft.com/office/powerpoint/2010/main" val="428512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194AC5D-41BE-2B0F-B767-A790B950AAFF}"/>
              </a:ext>
            </a:extLst>
          </p:cNvPr>
          <p:cNvPicPr>
            <a:picLocks noGrp="1" noChangeAspect="1"/>
          </p:cNvPicPr>
          <p:nvPr>
            <p:ph idx="1"/>
          </p:nvPr>
        </p:nvPicPr>
        <p:blipFill>
          <a:blip r:embed="rId2"/>
          <a:stretch>
            <a:fillRect/>
          </a:stretch>
        </p:blipFill>
        <p:spPr>
          <a:xfrm>
            <a:off x="1553497" y="481781"/>
            <a:ext cx="8996515" cy="5309419"/>
          </a:xfrm>
        </p:spPr>
      </p:pic>
    </p:spTree>
    <p:extLst>
      <p:ext uri="{BB962C8B-B14F-4D97-AF65-F5344CB8AC3E}">
        <p14:creationId xmlns:p14="http://schemas.microsoft.com/office/powerpoint/2010/main" val="36240201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1084</TotalTime>
  <Words>870</Words>
  <Application>Microsoft Office PowerPoint</Application>
  <PresentationFormat>Widescreen</PresentationFormat>
  <Paragraphs>75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Unicode MS</vt:lpstr>
      <vt:lpstr>Corbel</vt:lpstr>
      <vt:lpstr>Montserrat</vt:lpstr>
      <vt:lpstr>Verdana</vt:lpstr>
      <vt:lpstr>Parallax</vt:lpstr>
      <vt:lpstr> REACT JS</vt:lpstr>
      <vt:lpstr>INTRODUCTION TO REACT</vt:lpstr>
      <vt:lpstr>FEATURES OF REACT</vt:lpstr>
      <vt:lpstr>Benefits of components based Architecture</vt:lpstr>
      <vt:lpstr>REACT JSX</vt:lpstr>
      <vt:lpstr>PowerPoint Presentation</vt:lpstr>
      <vt:lpstr>Virtual DOM</vt:lpstr>
      <vt:lpstr>What is virtual DOM?</vt:lpstr>
      <vt:lpstr>How Does the Virtual DOM Work? </vt:lpstr>
      <vt:lpstr>REACT COMPONENTS</vt:lpstr>
      <vt:lpstr>PowerPoint Presentation</vt:lpstr>
      <vt:lpstr>REACT PROPS</vt:lpstr>
      <vt:lpstr>REACT STATE</vt:lpstr>
      <vt:lpstr>REACT EVENTS</vt:lpstr>
      <vt:lpstr>REACT HOOKS</vt:lpstr>
      <vt:lpstr>UseEffext Hook</vt:lpstr>
      <vt:lpstr>REACT ROUTING</vt:lpstr>
      <vt:lpstr>API(Application programming Interface)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14</cp:revision>
  <dcterms:created xsi:type="dcterms:W3CDTF">2024-09-06T04:26:39Z</dcterms:created>
  <dcterms:modified xsi:type="dcterms:W3CDTF">2025-09-23T09:36:41Z</dcterms:modified>
</cp:coreProperties>
</file>